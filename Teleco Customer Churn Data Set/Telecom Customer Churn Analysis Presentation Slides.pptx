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3MTT\Teleco%20Customer%20Churn%20Data%20Set\Telco-Customer-Churn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3MTT\Teleco%20Customer%20Churn%20Data%20Set\Telco-Customer-Churn_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3MTT\Teleco%20Customer%20Churn%20Data%20Set\Telco-Customer-Churn_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3MTT\Teleco%20Customer%20Churn%20Data%20Set\Telco-Customer-Churn_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3MTT\Teleco%20Customer%20Churn%20Data%20Set\Telco-Customer-Churn_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[Telco-Customer-Churn_Analysis.xlsx]Churn Rate!PivotTable1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CHURN</a:t>
            </a:r>
            <a:r>
              <a:rPr lang="en-US" baseline="0"/>
              <a:t> RATE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</c:pivotFmt>
      <c:pivotFmt>
        <c:idx val="1"/>
        <c:spPr>
          <a:solidFill>
            <a:schemeClr val="accent6">
              <a:lumMod val="75000"/>
            </a:schemeClr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0000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"/>
        <c:spPr>
          <a:solidFill>
            <a:schemeClr val="accent6">
              <a:lumMod val="75000"/>
            </a:schemeClr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"/>
        <c:spPr>
          <a:solidFill>
            <a:schemeClr val="accent6">
              <a:lumMod val="75000"/>
            </a:schemeClr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>
              <a:lumMod val="75000"/>
            </a:schemeClr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6"/>
        <c:spPr>
          <a:solidFill>
            <a:srgbClr val="FF0000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7"/>
        <c:spPr>
          <a:solidFill>
            <a:schemeClr val="accent6">
              <a:lumMod val="75000"/>
            </a:schemeClr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>
              <a:lumMod val="75000"/>
            </a:schemeClr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9"/>
        <c:spPr>
          <a:solidFill>
            <a:srgbClr val="FF0000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</c:pivotFmts>
    <c:plotArea>
      <c:layout/>
      <c:pieChart>
        <c:varyColors val="1"/>
        <c:ser>
          <c:idx val="0"/>
          <c:order val="0"/>
          <c:tx>
            <c:strRef>
              <c:f>'Churn Rate'!$B$3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</c:spPr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3408-4A5A-B648-A373999F6D73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3408-4A5A-B648-A373999F6D7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'Churn Rate'!$A$4:$A$6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'Churn Rate'!$B$4:$B$6</c:f>
              <c:numCache>
                <c:formatCode>0.0%</c:formatCode>
                <c:ptCount val="2"/>
                <c:pt idx="0">
                  <c:v>0.73463012920630411</c:v>
                </c:pt>
                <c:pt idx="1">
                  <c:v>0.26536987079369589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408-4A5A-B648-A373999F6D73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[Telco-Customer-Churn_Analysis.xlsx]Churn by Contract!PivotTable1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CHURN</a:t>
            </a:r>
            <a:r>
              <a:rPr lang="en-US" baseline="0"/>
              <a:t> BY CONTRACT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2360839887538161"/>
          <c:y val="5.090390017037344E-2"/>
          <c:w val="0.74073153833069272"/>
          <c:h val="0.8952731961136436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'Churn by Contract'!$B$3:$B$4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'Churn by Contract'!$A$5:$A$8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'Churn by Contract'!$B$5:$B$8</c:f>
              <c:numCache>
                <c:formatCode>0.0%</c:formatCode>
                <c:ptCount val="3"/>
                <c:pt idx="0">
                  <c:v>0.57290322580645159</c:v>
                </c:pt>
                <c:pt idx="1">
                  <c:v>0.88730482009504408</c:v>
                </c:pt>
                <c:pt idx="2">
                  <c:v>0.97168141592920354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D9-4E1D-8DCD-E0E6D9217556}"/>
            </c:ext>
          </c:extLst>
        </c:ser>
        <c:ser>
          <c:idx val="1"/>
          <c:order val="1"/>
          <c:tx>
            <c:strRef>
              <c:f>'Churn by Contract'!$C$3:$C$4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'Churn by Contract'!$A$5:$A$8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'Churn by Contract'!$C$5:$C$8</c:f>
              <c:numCache>
                <c:formatCode>0.0%</c:formatCode>
                <c:ptCount val="3"/>
                <c:pt idx="0">
                  <c:v>0.42709677419354841</c:v>
                </c:pt>
                <c:pt idx="1">
                  <c:v>0.11269517990495587</c:v>
                </c:pt>
                <c:pt idx="2">
                  <c:v>2.831858407079646E-2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D9-4E1D-8DCD-E0E6D921755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69703248"/>
        <c:axId val="169707824"/>
      </c:barChart>
      <c:catAx>
        <c:axId val="169703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69707824"/>
        <c:crosses val="autoZero"/>
        <c:auto val="1"/>
        <c:lblAlgn val="ctr"/>
        <c:lblOffset val="100"/>
        <c:noMultiLvlLbl val="0"/>
      </c:catAx>
      <c:valAx>
        <c:axId val="169707824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69703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[Telco-Customer-Churn_Analysis.xlsx]Churn by Tenure!PivotTable1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CHURN</a:t>
            </a:r>
            <a:r>
              <a:rPr lang="en-US" baseline="0"/>
              <a:t> BY TENURE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'Churn by Tenure'!$B$3:$B$4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'Churn by Tenure'!$A$5:$A$9</c:f>
              <c:strCache>
                <c:ptCount val="4"/>
                <c:pt idx="0">
                  <c:v>0-12</c:v>
                </c:pt>
                <c:pt idx="1">
                  <c:v>13-24</c:v>
                </c:pt>
                <c:pt idx="2">
                  <c:v>25-48</c:v>
                </c:pt>
                <c:pt idx="3">
                  <c:v>49-72</c:v>
                </c:pt>
              </c:strCache>
            </c:strRef>
          </c:cat>
          <c:val>
            <c:numRef>
              <c:f>'Churn by Tenure'!$B$5:$B$9</c:f>
              <c:numCache>
                <c:formatCode>0.0%</c:formatCode>
                <c:ptCount val="4"/>
                <c:pt idx="0">
                  <c:v>0.52561756633119849</c:v>
                </c:pt>
                <c:pt idx="1">
                  <c:v>0.712890625</c:v>
                </c:pt>
                <c:pt idx="2">
                  <c:v>0.79611041405269767</c:v>
                </c:pt>
                <c:pt idx="3">
                  <c:v>0.90486824475212146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41-46CB-889A-4159F76E876F}"/>
            </c:ext>
          </c:extLst>
        </c:ser>
        <c:ser>
          <c:idx val="1"/>
          <c:order val="1"/>
          <c:tx>
            <c:strRef>
              <c:f>'Churn by Tenure'!$C$3:$C$4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'Churn by Tenure'!$A$5:$A$9</c:f>
              <c:strCache>
                <c:ptCount val="4"/>
                <c:pt idx="0">
                  <c:v>0-12</c:v>
                </c:pt>
                <c:pt idx="1">
                  <c:v>13-24</c:v>
                </c:pt>
                <c:pt idx="2">
                  <c:v>25-48</c:v>
                </c:pt>
                <c:pt idx="3">
                  <c:v>49-72</c:v>
                </c:pt>
              </c:strCache>
            </c:strRef>
          </c:cat>
          <c:val>
            <c:numRef>
              <c:f>'Churn by Tenure'!$C$5:$C$9</c:f>
              <c:numCache>
                <c:formatCode>0.0%</c:formatCode>
                <c:ptCount val="4"/>
                <c:pt idx="0">
                  <c:v>0.47438243366880145</c:v>
                </c:pt>
                <c:pt idx="1">
                  <c:v>0.287109375</c:v>
                </c:pt>
                <c:pt idx="2">
                  <c:v>0.20388958594730239</c:v>
                </c:pt>
                <c:pt idx="3">
                  <c:v>9.5131755247878522E-2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41-46CB-889A-4159F76E876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72913584"/>
        <c:axId val="172908176"/>
      </c:barChart>
      <c:catAx>
        <c:axId val="1729135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172908176"/>
        <c:crosses val="autoZero"/>
        <c:auto val="1"/>
        <c:lblAlgn val="ctr"/>
        <c:lblOffset val="100"/>
        <c:noMultiLvlLbl val="0"/>
      </c:catAx>
      <c:valAx>
        <c:axId val="172908176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72913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[Telco-Customer-Churn_Analysis.xlsx]Churn by Monthly Charges!PivotTable1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CHURN BY MONTHLY CHARGES</a:t>
            </a:r>
          </a:p>
        </c:rich>
      </c:tx>
      <c:layout>
        <c:manualLayout>
          <c:xMode val="edge"/>
          <c:yMode val="edge"/>
          <c:x val="0.27802546138353695"/>
          <c:y val="5.41071465044662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'Churn by Monthly Charges'!$B$3:$B$4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'Churn by Monthly Charges'!$A$5:$A$11</c:f>
              <c:strCache>
                <c:ptCount val="6"/>
                <c:pt idx="0">
                  <c:v>&lt;20</c:v>
                </c:pt>
                <c:pt idx="1">
                  <c:v>20-40</c:v>
                </c:pt>
                <c:pt idx="2">
                  <c:v>40-60</c:v>
                </c:pt>
                <c:pt idx="3">
                  <c:v>60-80</c:v>
                </c:pt>
                <c:pt idx="4">
                  <c:v>80-100</c:v>
                </c:pt>
                <c:pt idx="5">
                  <c:v>100-120</c:v>
                </c:pt>
              </c:strCache>
            </c:strRef>
          </c:cat>
          <c:val>
            <c:numRef>
              <c:f>'Churn by Monthly Charges'!$B$5:$B$11</c:f>
              <c:numCache>
                <c:formatCode>0.0%</c:formatCode>
                <c:ptCount val="6"/>
                <c:pt idx="0">
                  <c:v>0.91027732463295274</c:v>
                </c:pt>
                <c:pt idx="1">
                  <c:v>0.87091503267973858</c:v>
                </c:pt>
                <c:pt idx="2">
                  <c:v>0.74205607476635516</c:v>
                </c:pt>
                <c:pt idx="3">
                  <c:v>0.67786154900616857</c:v>
                </c:pt>
                <c:pt idx="4">
                  <c:v>0.63086489542114188</c:v>
                </c:pt>
                <c:pt idx="5">
                  <c:v>0.71696035242290745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FF-4EDE-9A29-2AC67C7B4B87}"/>
            </c:ext>
          </c:extLst>
        </c:ser>
        <c:ser>
          <c:idx val="1"/>
          <c:order val="1"/>
          <c:tx>
            <c:strRef>
              <c:f>'Churn by Monthly Charges'!$C$3:$C$4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'Churn by Monthly Charges'!$A$5:$A$11</c:f>
              <c:strCache>
                <c:ptCount val="6"/>
                <c:pt idx="0">
                  <c:v>&lt;20</c:v>
                </c:pt>
                <c:pt idx="1">
                  <c:v>20-40</c:v>
                </c:pt>
                <c:pt idx="2">
                  <c:v>40-60</c:v>
                </c:pt>
                <c:pt idx="3">
                  <c:v>60-80</c:v>
                </c:pt>
                <c:pt idx="4">
                  <c:v>80-100</c:v>
                </c:pt>
                <c:pt idx="5">
                  <c:v>100-120</c:v>
                </c:pt>
              </c:strCache>
            </c:strRef>
          </c:cat>
          <c:val>
            <c:numRef>
              <c:f>'Churn by Monthly Charges'!$C$5:$C$11</c:f>
              <c:numCache>
                <c:formatCode>0.0%</c:formatCode>
                <c:ptCount val="6"/>
                <c:pt idx="0">
                  <c:v>8.9722675367047311E-2</c:v>
                </c:pt>
                <c:pt idx="1">
                  <c:v>0.12908496732026145</c:v>
                </c:pt>
                <c:pt idx="2">
                  <c:v>0.25794392523364484</c:v>
                </c:pt>
                <c:pt idx="3">
                  <c:v>0.32213845099383137</c:v>
                </c:pt>
                <c:pt idx="4">
                  <c:v>0.36913510457885812</c:v>
                </c:pt>
                <c:pt idx="5">
                  <c:v>0.28303964757709249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FF-4EDE-9A29-2AC67C7B4B8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327606256"/>
        <c:axId val="327609168"/>
      </c:barChart>
      <c:catAx>
        <c:axId val="327606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327609168"/>
        <c:crosses val="autoZero"/>
        <c:auto val="1"/>
        <c:lblAlgn val="ctr"/>
        <c:lblOffset val="100"/>
        <c:noMultiLvlLbl val="0"/>
      </c:catAx>
      <c:valAx>
        <c:axId val="327609168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327606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[Telco-Customer-Churn_Analysis.xlsx]Churn by Payment!PivotTable1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ChURN</a:t>
            </a:r>
            <a:r>
              <a:rPr lang="en-US" baseline="0"/>
              <a:t> BY PAYMENT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'Churn by Payment'!$B$3:$B$4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'Churn by Payment'!$A$5:$A$9</c:f>
              <c:strCache>
                <c:ptCount val="4"/>
                <c:pt idx="0">
                  <c:v>Bank transfer (automatic)</c:v>
                </c:pt>
                <c:pt idx="1">
                  <c:v>Credit card (automatic)</c:v>
                </c:pt>
                <c:pt idx="2">
                  <c:v>Electronic check</c:v>
                </c:pt>
                <c:pt idx="3">
                  <c:v>Mailed check</c:v>
                </c:pt>
              </c:strCache>
            </c:strRef>
          </c:cat>
          <c:val>
            <c:numRef>
              <c:f>'Churn by Payment'!$B$5:$B$9</c:f>
              <c:numCache>
                <c:formatCode>0.0%</c:formatCode>
                <c:ptCount val="4"/>
                <c:pt idx="0">
                  <c:v>0.83290155440414504</c:v>
                </c:pt>
                <c:pt idx="1">
                  <c:v>0.84756898817345594</c:v>
                </c:pt>
                <c:pt idx="2">
                  <c:v>0.54714587737843556</c:v>
                </c:pt>
                <c:pt idx="3">
                  <c:v>0.80893300248138955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EA-452D-A3AA-CD9B62F3D155}"/>
            </c:ext>
          </c:extLst>
        </c:ser>
        <c:ser>
          <c:idx val="1"/>
          <c:order val="1"/>
          <c:tx>
            <c:strRef>
              <c:f>'Churn by Payment'!$C$3:$C$4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'Churn by Payment'!$A$5:$A$9</c:f>
              <c:strCache>
                <c:ptCount val="4"/>
                <c:pt idx="0">
                  <c:v>Bank transfer (automatic)</c:v>
                </c:pt>
                <c:pt idx="1">
                  <c:v>Credit card (automatic)</c:v>
                </c:pt>
                <c:pt idx="2">
                  <c:v>Electronic check</c:v>
                </c:pt>
                <c:pt idx="3">
                  <c:v>Mailed check</c:v>
                </c:pt>
              </c:strCache>
            </c:strRef>
          </c:cat>
          <c:val>
            <c:numRef>
              <c:f>'Churn by Payment'!$C$5:$C$9</c:f>
              <c:numCache>
                <c:formatCode>0.0%</c:formatCode>
                <c:ptCount val="4"/>
                <c:pt idx="0">
                  <c:v>0.16709844559585493</c:v>
                </c:pt>
                <c:pt idx="1">
                  <c:v>0.15243101182654403</c:v>
                </c:pt>
                <c:pt idx="2">
                  <c:v>0.45285412262156449</c:v>
                </c:pt>
                <c:pt idx="3">
                  <c:v>0.19106699751861042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EA-452D-A3AA-CD9B62F3D15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327598352"/>
        <c:axId val="327595440"/>
      </c:barChart>
      <c:catAx>
        <c:axId val="327598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327595440"/>
        <c:crosses val="autoZero"/>
        <c:auto val="1"/>
        <c:lblAlgn val="ctr"/>
        <c:lblOffset val="100"/>
        <c:noMultiLvlLbl val="0"/>
      </c:catAx>
      <c:valAx>
        <c:axId val="327595440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327598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18C9-38CA-4A39-B1C7-7030E02D206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4D3B-AA59-4927-9807-43EC169D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24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18C9-38CA-4A39-B1C7-7030E02D206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4D3B-AA59-4927-9807-43EC169D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74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18C9-38CA-4A39-B1C7-7030E02D206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4D3B-AA59-4927-9807-43EC169D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18C9-38CA-4A39-B1C7-7030E02D206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4D3B-AA59-4927-9807-43EC169D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033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18C9-38CA-4A39-B1C7-7030E02D206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4D3B-AA59-4927-9807-43EC169D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8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18C9-38CA-4A39-B1C7-7030E02D206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4D3B-AA59-4927-9807-43EC169D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90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18C9-38CA-4A39-B1C7-7030E02D206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4D3B-AA59-4927-9807-43EC169D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22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18C9-38CA-4A39-B1C7-7030E02D206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4D3B-AA59-4927-9807-43EC169D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24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18C9-38CA-4A39-B1C7-7030E02D206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4D3B-AA59-4927-9807-43EC169D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0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18C9-38CA-4A39-B1C7-7030E02D206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4D3B-AA59-4927-9807-43EC169D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23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18C9-38CA-4A39-B1C7-7030E02D206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4D3B-AA59-4927-9807-43EC169D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17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618C9-38CA-4A39-B1C7-7030E02D206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64D3B-AA59-4927-9807-43EC169D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38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2282" y="609600"/>
            <a:ext cx="9144000" cy="2355944"/>
          </a:xfrm>
          <a:solidFill>
            <a:schemeClr val="accent1">
              <a:lumMod val="75000"/>
            </a:schemeClr>
          </a:solidFill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chemeClr val="bg1"/>
                </a:solidFill>
              </a:rPr>
            </a:br>
            <a:br>
              <a:rPr lang="en-US" b="1" dirty="0">
                <a:solidFill>
                  <a:schemeClr val="bg1"/>
                </a:solidFill>
              </a:rPr>
            </a:br>
            <a:r>
              <a:rPr lang="en-US" sz="5300" b="1" dirty="0">
                <a:solidFill>
                  <a:schemeClr val="bg1"/>
                </a:solidFill>
              </a:rPr>
              <a:t>GROUP 2 PRESENTATION</a:t>
            </a:r>
            <a:br>
              <a:rPr lang="en-US" sz="5300" b="1" dirty="0">
                <a:solidFill>
                  <a:schemeClr val="bg1"/>
                </a:solidFill>
              </a:rPr>
            </a:br>
            <a:r>
              <a:rPr lang="en-US" sz="5300" b="1" dirty="0">
                <a:solidFill>
                  <a:schemeClr val="bg1"/>
                </a:solidFill>
              </a:rPr>
              <a:t>TELECOM CUSTOMER CHURN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2282" y="3073120"/>
            <a:ext cx="9144000" cy="317528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2 MEMBERS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Margaret </a:t>
            </a:r>
            <a:r>
              <a:rPr lang="en-NG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Nkechiyenm</a:t>
            </a: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Abiodun-</a:t>
            </a:r>
            <a:r>
              <a:rPr lang="en-NG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Oyewuwo</a:t>
            </a: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-Team Lead</a:t>
            </a:r>
            <a:endParaRPr lang="en-NG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NG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Ajele</a:t>
            </a: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NG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Eucharia</a:t>
            </a: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Blossom 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Member</a:t>
            </a:r>
            <a:endParaRPr lang="en-NG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Emmanuel Baba 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Member</a:t>
            </a:r>
            <a:endParaRPr lang="en-NG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rne</a:t>
            </a:r>
            <a:r>
              <a:rPr lang="en-NG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Paul 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Member</a:t>
            </a:r>
            <a:endParaRPr lang="en-NG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NG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Ibraheem</a:t>
            </a: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Bola Kareem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Member</a:t>
            </a:r>
            <a:endParaRPr lang="en-NG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 Armstrong 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Member</a:t>
            </a: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NG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Maryam </a:t>
            </a:r>
            <a:r>
              <a:rPr lang="en-NG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Siddiqa</a:t>
            </a: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Adamu 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Member</a:t>
            </a:r>
            <a:endParaRPr lang="en-NG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Obasohan </a:t>
            </a:r>
            <a:r>
              <a:rPr lang="en-NG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Marvelous</a:t>
            </a: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Member</a:t>
            </a:r>
            <a:endParaRPr lang="en-NG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NG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Omonayin</a:t>
            </a: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NG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Iyanu</a:t>
            </a:r>
            <a:r>
              <a:rPr lang="en-NG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Juliet 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Member</a:t>
            </a:r>
            <a:endParaRPr lang="en-NG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683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8000"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Understand why customers leave</a:t>
            </a:r>
          </a:p>
          <a:p>
            <a:r>
              <a:rPr lang="en-US" sz="5400" dirty="0"/>
              <a:t>Identify key segments</a:t>
            </a:r>
          </a:p>
          <a:p>
            <a:r>
              <a:rPr lang="en-US" sz="5400" dirty="0"/>
              <a:t>Provide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321095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7,043 customers</a:t>
            </a:r>
          </a:p>
          <a:p>
            <a:r>
              <a:rPr lang="en-US" sz="6000" dirty="0"/>
              <a:t>Key variables; tenure, monthly charges, contract type</a:t>
            </a:r>
          </a:p>
        </p:txBody>
      </p:sp>
    </p:spTree>
    <p:extLst>
      <p:ext uri="{BB962C8B-B14F-4D97-AF65-F5344CB8AC3E}">
        <p14:creationId xmlns:p14="http://schemas.microsoft.com/office/powerpoint/2010/main" val="3532493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Key Insight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churn rate 27%.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4822564"/>
              </p:ext>
            </p:extLst>
          </p:nvPr>
        </p:nvGraphicFramePr>
        <p:xfrm>
          <a:off x="2995448" y="2629693"/>
          <a:ext cx="5917323" cy="37711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01893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Month to month contracts drive churn 42.7%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7840635"/>
              </p:ext>
            </p:extLst>
          </p:nvPr>
        </p:nvGraphicFramePr>
        <p:xfrm>
          <a:off x="2711669" y="2280746"/>
          <a:ext cx="6484883" cy="43828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15098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6000" dirty="0"/>
              <a:t>Key Insight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customers churn the most 47%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30490"/>
              </p:ext>
            </p:extLst>
          </p:nvPr>
        </p:nvGraphicFramePr>
        <p:xfrm>
          <a:off x="2511972" y="2488323"/>
          <a:ext cx="6201104" cy="3688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94124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Key Insight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High charges increase churn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2485943"/>
              </p:ext>
            </p:extLst>
          </p:nvPr>
        </p:nvGraphicFramePr>
        <p:xfrm>
          <a:off x="2585544" y="2081048"/>
          <a:ext cx="6726622" cy="4078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65778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Key Insight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Credit Card Auto payment reduces churn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3832902"/>
              </p:ext>
            </p:extLst>
          </p:nvPr>
        </p:nvGraphicFramePr>
        <p:xfrm>
          <a:off x="2732690" y="2459421"/>
          <a:ext cx="7136524" cy="3852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26974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Encourage Long-Term Contracts (Offer discounts for yearly plans)</a:t>
            </a:r>
          </a:p>
          <a:p>
            <a:r>
              <a:rPr lang="en-US" sz="3600" dirty="0"/>
              <a:t>Improve onboarding (First 3 months retention strategy)</a:t>
            </a:r>
          </a:p>
          <a:p>
            <a:r>
              <a:rPr lang="en-US" sz="3600" dirty="0"/>
              <a:t>Reduce Price Sensitivity (Bundle service)</a:t>
            </a:r>
          </a:p>
          <a:p>
            <a:r>
              <a:rPr lang="en-US" sz="3600" dirty="0"/>
              <a:t>Promote Auto-Payment (Incentives for card / bank payments)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318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Churn is driven by flexibility, cost, and early experience</a:t>
            </a:r>
          </a:p>
          <a:p>
            <a:r>
              <a:rPr lang="en-US" dirty="0"/>
              <a:t>Customers on month-to-month contracts and high charges show the highest churn risk.</a:t>
            </a:r>
          </a:p>
          <a:p>
            <a:r>
              <a:rPr lang="en-US" dirty="0"/>
              <a:t>Customer churn is highest among  new, high-paying customers on flexible contracts without automated </a:t>
            </a:r>
            <a:r>
              <a:rPr lang="en-US"/>
              <a:t>payment systems.</a:t>
            </a:r>
          </a:p>
        </p:txBody>
      </p:sp>
    </p:spTree>
    <p:extLst>
      <p:ext uri="{BB962C8B-B14F-4D97-AF65-F5344CB8AC3E}">
        <p14:creationId xmlns:p14="http://schemas.microsoft.com/office/powerpoint/2010/main" val="2780383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221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  GROUP 2 PRESENTATION TELECOM CUSTOMER CHURN ANALYSIS</vt:lpstr>
      <vt:lpstr>OBJECTIVES</vt:lpstr>
      <vt:lpstr>Dataset Overview</vt:lpstr>
      <vt:lpstr>Key Insight 1</vt:lpstr>
      <vt:lpstr>Key Insight 2</vt:lpstr>
      <vt:lpstr>Key Insight 3</vt:lpstr>
      <vt:lpstr>Key Insight 4</vt:lpstr>
      <vt:lpstr>Key Insight 5</vt:lpstr>
      <vt:lpstr>Recommendations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ANALYSIS</dc:title>
  <dc:creator>user</dc:creator>
  <cp:lastModifiedBy>ERNEST PAUL</cp:lastModifiedBy>
  <cp:revision>20</cp:revision>
  <dcterms:created xsi:type="dcterms:W3CDTF">2026-03-30T10:42:22Z</dcterms:created>
  <dcterms:modified xsi:type="dcterms:W3CDTF">2026-04-15T11:24:06Z</dcterms:modified>
</cp:coreProperties>
</file>